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2" r:id="rId1"/>
  </p:sldMasterIdLst>
  <p:sldIdLst>
    <p:sldId id="257" r:id="rId2"/>
    <p:sldId id="258" r:id="rId3"/>
    <p:sldId id="259" r:id="rId4"/>
    <p:sldId id="260" r:id="rId5"/>
    <p:sldId id="262" r:id="rId6"/>
    <p:sldId id="27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5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0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Segnaposto contenuto 4" descr="Immagine che contiene ginnastica, persona, sport, vestiti&#10;&#10;Il contenuto generato dall'IA potrebbe non essere corretto.">
            <a:extLst>
              <a:ext uri="{FF2B5EF4-FFF2-40B4-BE49-F238E27FC236}">
                <a16:creationId xmlns:a16="http://schemas.microsoft.com/office/drawing/2014/main" id="{EF44F66F-95D2-7048-6F11-38B84755344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4" r="9091" b="6038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9" name="Rectangle 33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3E8BD97-C580-B68F-6289-8862ABDFA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spc="530" noProof="0" dirty="0"/>
              <a:t>Visual analytics for gymnastics performance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5D31D88C-1664-5085-D970-801AC3CB6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en-US" sz="2400" noProof="0" dirty="0"/>
              <a:t>Male Artistic Gymnastics</a:t>
            </a:r>
          </a:p>
          <a:p>
            <a:r>
              <a:rPr lang="en-US" sz="2400" noProof="0" dirty="0"/>
              <a:t>Olympic Cycle 2022-2024</a:t>
            </a:r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428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5EE95E-1F74-7C59-87B9-81339F2A8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2542834" cy="1299571"/>
          </a:xfrm>
        </p:spPr>
        <p:txBody>
          <a:bodyPr/>
          <a:lstStyle/>
          <a:p>
            <a:r>
              <a:rPr lang="en-US" noProof="0" dirty="0"/>
              <a:t>Topic</a:t>
            </a:r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21D2448E-C0A6-48D9-78E3-EE0DF727E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450592"/>
            <a:ext cx="6232518" cy="3429000"/>
          </a:xfrm>
        </p:spPr>
        <p:txBody>
          <a:bodyPr anchor="t">
            <a:normAutofit fontScale="92500"/>
          </a:bodyPr>
          <a:lstStyle/>
          <a:p>
            <a:r>
              <a:rPr lang="en-US" b="1" noProof="0" dirty="0"/>
              <a:t>Men Artistic Gymnastics Performance 2022-2024 </a:t>
            </a:r>
          </a:p>
          <a:p>
            <a:r>
              <a:rPr lang="en-US" noProof="0" dirty="0"/>
              <a:t>Gymnastics is a sport based on </a:t>
            </a:r>
            <a:r>
              <a:rPr lang="en-US" b="1" noProof="0" dirty="0"/>
              <a:t>performance evaluation </a:t>
            </a:r>
            <a:r>
              <a:rPr lang="en-US" noProof="0" dirty="0"/>
              <a:t>set on values such as D-score, E-score and penalties.</a:t>
            </a:r>
          </a:p>
          <a:p>
            <a:r>
              <a:rPr lang="en-US" dirty="0"/>
              <a:t>Results on apparatuses and competitions produce large volumes of data but </a:t>
            </a:r>
            <a:r>
              <a:rPr lang="en-US" b="1" dirty="0"/>
              <a:t>rarely analyzed</a:t>
            </a:r>
            <a:r>
              <a:rPr lang="en-US" dirty="0"/>
              <a:t>.</a:t>
            </a:r>
          </a:p>
          <a:p>
            <a:r>
              <a:rPr lang="en-US" noProof="0" dirty="0"/>
              <a:t>Here we try doing that taking data from official international </a:t>
            </a:r>
            <a:r>
              <a:rPr lang="en-US" noProof="0" dirty="0" err="1"/>
              <a:t>compe</a:t>
            </a:r>
            <a:r>
              <a:rPr lang="en-US" dirty="0" err="1"/>
              <a:t>titions</a:t>
            </a:r>
            <a:r>
              <a:rPr lang="en-US" dirty="0"/>
              <a:t>.</a:t>
            </a:r>
            <a:endParaRPr lang="en-US" noProof="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4A1E49D-5F4D-EDF0-7DE9-3F60F5CE1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726" y="2450592"/>
            <a:ext cx="5096900" cy="175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3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75B7DCD-5FF9-D361-C887-EDED9AB75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901183"/>
            <a:ext cx="5578132" cy="1418903"/>
          </a:xfrm>
        </p:spPr>
        <p:txBody>
          <a:bodyPr anchor="b">
            <a:normAutofit/>
          </a:bodyPr>
          <a:lstStyle/>
          <a:p>
            <a:r>
              <a:rPr lang="en-US" sz="6000" noProof="0" dirty="0"/>
              <a:t>Data Retrieval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66930EC-70B9-227D-1AD4-7F05BD9BE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2320086"/>
            <a:ext cx="5578132" cy="3636731"/>
          </a:xfrm>
        </p:spPr>
        <p:txBody>
          <a:bodyPr anchor="t">
            <a:normAutofit lnSpcReduction="10000"/>
          </a:bodyPr>
          <a:lstStyle/>
          <a:p>
            <a:r>
              <a:rPr lang="en-US" noProof="0" dirty="0"/>
              <a:t>Data was collected from the </a:t>
            </a:r>
            <a:r>
              <a:rPr lang="en-US" b="1" noProof="0" dirty="0"/>
              <a:t>official results </a:t>
            </a:r>
            <a:r>
              <a:rPr lang="en-US" noProof="0" dirty="0"/>
              <a:t>page of International Gymnastics Federation, </a:t>
            </a:r>
            <a:r>
              <a:rPr lang="en-US" b="1" noProof="0" dirty="0"/>
              <a:t>World Gymnastics</a:t>
            </a:r>
            <a:r>
              <a:rPr lang="en-US" noProof="0" dirty="0"/>
              <a:t>, from competitions .pdf files then exported in .csv ones. </a:t>
            </a:r>
          </a:p>
          <a:p>
            <a:r>
              <a:rPr lang="en-US" dirty="0"/>
              <a:t>Data retrieval was done taking into account </a:t>
            </a:r>
            <a:r>
              <a:rPr lang="en-US" b="1" dirty="0"/>
              <a:t>European and World Championships </a:t>
            </a:r>
            <a:r>
              <a:rPr lang="en-US" dirty="0"/>
              <a:t>from </a:t>
            </a:r>
            <a:r>
              <a:rPr lang="en-US" b="1" dirty="0"/>
              <a:t>2022 to 2024</a:t>
            </a:r>
            <a:r>
              <a:rPr lang="en-US" dirty="0"/>
              <a:t>, so having the </a:t>
            </a:r>
            <a:r>
              <a:rPr lang="en-US" b="1" dirty="0"/>
              <a:t>same Code of Point </a:t>
            </a:r>
            <a:r>
              <a:rPr lang="en-US" dirty="0"/>
              <a:t>for all competitions making the analysis </a:t>
            </a:r>
            <a:r>
              <a:rPr lang="en-US" dirty="0" err="1"/>
              <a:t>duable</a:t>
            </a:r>
            <a:r>
              <a:rPr lang="en-US" dirty="0"/>
              <a:t>.</a:t>
            </a:r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magine 4" descr="Immagine che contiene Elementi grafici, grafica,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C0DFD72A-B645-A167-C4B0-4359ED750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712" y="1838955"/>
            <a:ext cx="3068786" cy="318009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1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457E6A-9C85-A485-6C9A-BA672566C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520" y="721735"/>
            <a:ext cx="4060738" cy="1909171"/>
          </a:xfrm>
        </p:spPr>
        <p:txBody>
          <a:bodyPr>
            <a:noAutofit/>
          </a:bodyPr>
          <a:lstStyle/>
          <a:p>
            <a:r>
              <a:rPr lang="en-US" sz="5400" noProof="0" dirty="0"/>
              <a:t>Data sources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4F9A7CF-0572-8513-C2EC-46BE8E1A6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424" y="2630906"/>
            <a:ext cx="4066834" cy="3505359"/>
          </a:xfrm>
        </p:spPr>
        <p:txBody>
          <a:bodyPr numCol="2" anchor="t">
            <a:normAutofit fontScale="77500" lnSpcReduction="20000"/>
          </a:bodyPr>
          <a:lstStyle/>
          <a:p>
            <a:r>
              <a:rPr lang="en-US" dirty="0"/>
              <a:t>.csv files have been </a:t>
            </a:r>
            <a:r>
              <a:rPr lang="en-US" b="1" dirty="0"/>
              <a:t>selected</a:t>
            </a:r>
            <a:r>
              <a:rPr lang="en-US" dirty="0"/>
              <a:t> and </a:t>
            </a:r>
            <a:r>
              <a:rPr lang="en-US" b="1" dirty="0"/>
              <a:t>grouped</a:t>
            </a:r>
            <a:r>
              <a:rPr lang="en-US" dirty="0"/>
              <a:t> at first by year then all tuples collected in a single file having 13 </a:t>
            </a:r>
            <a:r>
              <a:rPr lang="en-US" b="1" dirty="0"/>
              <a:t>attributes useful for analysis</a:t>
            </a:r>
            <a:r>
              <a:rPr lang="en-US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Athlete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 err="1"/>
              <a:t>EventDate</a:t>
            </a: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Competition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Event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Qualified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Apparatus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 err="1"/>
              <a:t>Dscore</a:t>
            </a: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 err="1"/>
              <a:t>Escore</a:t>
            </a: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Penalties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FinalScore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Rank</a:t>
            </a:r>
          </a:p>
        </p:txBody>
      </p:sp>
      <p:pic>
        <p:nvPicPr>
          <p:cNvPr id="5" name="Immagine 4" descr="Immagine che contiene testo, schermata, modello&#10;&#10;Il contenuto generato dall'IA potrebbe non essere corretto.">
            <a:extLst>
              <a:ext uri="{FF2B5EF4-FFF2-40B4-BE49-F238E27FC236}">
                <a16:creationId xmlns:a16="http://schemas.microsoft.com/office/drawing/2014/main" id="{CE5D907C-3AD7-B8E9-6EC8-E7F04C9EB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522" y="1215748"/>
            <a:ext cx="6904318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6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E47544-3E26-A076-3050-6CC76465C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Data sources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3889FE6-EC70-FE61-B904-CAA69C9CC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450592"/>
            <a:ext cx="8848934" cy="3429000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The entire data source used for the analysis has the following dimensions for each year: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1464 for 2022 with 2 competitions (1 WCH, 1 EUCH)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1456 for 2023 with 2 competitions (1 WCH, 1 EUCH)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702 for 2024 with 1 competition </a:t>
            </a:r>
            <a:r>
              <a:rPr lang="en-US" dirty="0"/>
              <a:t>(1 EUCH)</a:t>
            </a:r>
            <a:endParaRPr lang="en-US" noProof="0" dirty="0"/>
          </a:p>
          <a:p>
            <a:r>
              <a:rPr lang="en-US" dirty="0"/>
              <a:t>The total of the </a:t>
            </a:r>
            <a:r>
              <a:rPr lang="en-US" b="1" dirty="0"/>
              <a:t>three years </a:t>
            </a:r>
            <a:r>
              <a:rPr lang="en-US" dirty="0"/>
              <a:t>is so 3622 with </a:t>
            </a:r>
            <a:r>
              <a:rPr lang="en-US" b="1" dirty="0"/>
              <a:t>13 attributes </a:t>
            </a:r>
            <a:r>
              <a:rPr lang="en-US" dirty="0"/>
              <a:t>making the value:</a:t>
            </a:r>
          </a:p>
          <a:p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= #tuples x #dimensions = </a:t>
            </a:r>
            <a:r>
              <a:rPr lang="en-US" b="1" dirty="0"/>
              <a:t>47.086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280254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18ACCFC-DC85-078B-4A6C-FBAF63D3F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en-US" sz="4800" noProof="0" dirty="0"/>
              <a:t>Intended Users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7F0EAFC-D452-4946-782C-B8FFF0AC9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757403"/>
            <a:ext cx="5380268" cy="3303764"/>
          </a:xfrm>
        </p:spPr>
        <p:txBody>
          <a:bodyPr anchor="t"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/>
              <a:t>Coaches and technical staff </a:t>
            </a:r>
            <a:r>
              <a:rPr lang="en-US" noProof="0" dirty="0"/>
              <a:t>for performance assessment and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/>
              <a:t>Analysts and researchers </a:t>
            </a:r>
            <a:r>
              <a:rPr lang="en-US" noProof="0" dirty="0"/>
              <a:t>interested in competition-level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/>
              <a:t>Athletes</a:t>
            </a:r>
            <a:r>
              <a:rPr lang="en-US" noProof="0" dirty="0"/>
              <a:t> seeking insight into strengths, weaknesses, and 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/>
              <a:t>Federation staff </a:t>
            </a:r>
            <a:r>
              <a:rPr lang="en-US" noProof="0" dirty="0"/>
              <a:t>for high-level performance monitoring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pic>
        <p:nvPicPr>
          <p:cNvPr id="4" name="Immagine 3" descr="Immagine che contiene vestiti, Animazione, Cartoni animati, persona&#10;&#10;Il contenuto generato dall'IA potrebbe non essere corretto.">
            <a:extLst>
              <a:ext uri="{FF2B5EF4-FFF2-40B4-BE49-F238E27FC236}">
                <a16:creationId xmlns:a16="http://schemas.microsoft.com/office/drawing/2014/main" id="{38F0548E-22FF-A288-1778-2B7992F0F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524" y="969642"/>
            <a:ext cx="5380268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5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84F789-8A23-B5DF-284D-DCFE822BA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Data preprocessing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9E5DCE7-FE51-490F-D684-E8AC14A7E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450592"/>
            <a:ext cx="8155432" cy="3429000"/>
          </a:xfrm>
        </p:spPr>
        <p:txBody>
          <a:bodyPr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Removal of incomplete records and entries </a:t>
            </a:r>
            <a:r>
              <a:rPr lang="en-US" dirty="0"/>
              <a:t>with missing or non-informative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Selection of relevant performance variables (</a:t>
            </a:r>
            <a:r>
              <a:rPr lang="en-US" b="1" dirty="0"/>
              <a:t>D-score, E-score, Final Score, penalties</a:t>
            </a:r>
            <a:r>
              <a:rPr lang="en-U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Standardization</a:t>
            </a:r>
            <a:r>
              <a:rPr lang="en-US" dirty="0"/>
              <a:t> and cleaning of categorical fields (athlete, apparatus, competition, year)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Preparation of data subsets for </a:t>
            </a:r>
            <a:r>
              <a:rPr lang="en-US" b="1" dirty="0"/>
              <a:t>interactive filtering and dimensionality reduction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3503325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5C8501-1C22-95E6-77DE-8647D9360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Data visualization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3DEBBB8-E515-4938-84E9-E0EAE9892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209800"/>
            <a:ext cx="10178876" cy="3918284"/>
          </a:xfrm>
        </p:spPr>
        <p:txBody>
          <a:bodyPr anchor="t">
            <a:normAutofit/>
          </a:bodyPr>
          <a:lstStyle/>
          <a:p>
            <a:r>
              <a:rPr lang="en-US" sz="1800" noProof="0" dirty="0"/>
              <a:t>The complete dashboard is composed of 4 main interactive charts and filters to make the analysis easier to control and interact with.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noProof="0" dirty="0"/>
              <a:t>Scatter Plot (D vs E): </a:t>
            </a:r>
            <a:r>
              <a:rPr lang="en-US" sz="1800" noProof="0" dirty="0"/>
              <a:t>provides an overview of the relationship between Difficulty and Execution scores, highlighting qualification outcomes and athlete distributions.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noProof="0" dirty="0"/>
              <a:t>Performance Trend View</a:t>
            </a:r>
            <a:r>
              <a:rPr lang="en-US" sz="1800" noProof="0" dirty="0"/>
              <a:t>: shows how Final Scores vary across competitions and years, supporting the analysis of trends and variability.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noProof="0" dirty="0"/>
              <a:t>Heatmap</a:t>
            </a:r>
            <a:r>
              <a:rPr lang="en-US" sz="1800" noProof="0" dirty="0"/>
              <a:t>: summarizes average Final Scores across apparatuses and temporal dimensions, enabling quick comparison of performance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noProof="0" dirty="0"/>
              <a:t>PCA Projection</a:t>
            </a:r>
            <a:r>
              <a:rPr lang="en-US" sz="1800" noProof="0" dirty="0"/>
              <a:t>: reduces multidimensional performance data into a two-dimensional space to explore similarities between athlete.</a:t>
            </a:r>
          </a:p>
        </p:txBody>
      </p:sp>
    </p:spTree>
    <p:extLst>
      <p:ext uri="{BB962C8B-B14F-4D97-AF65-F5344CB8AC3E}">
        <p14:creationId xmlns:p14="http://schemas.microsoft.com/office/powerpoint/2010/main" val="201963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DCCB9A6-E91E-994D-A555-D87B09E85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9"/>
            <a:ext cx="6126480" cy="1643880"/>
          </a:xfrm>
        </p:spPr>
        <p:txBody>
          <a:bodyPr anchor="t">
            <a:normAutofit/>
          </a:bodyPr>
          <a:lstStyle/>
          <a:p>
            <a:r>
              <a:rPr lang="en-US" sz="4800" noProof="0"/>
              <a:t>D vs E scatter plot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EC115B7-A289-5C7E-F256-E6420C625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9840" y="971399"/>
            <a:ext cx="5353311" cy="1643880"/>
          </a:xfrm>
        </p:spPr>
        <p:txBody>
          <a:bodyPr anchor="t"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Relation between </a:t>
            </a:r>
            <a:r>
              <a:rPr lang="en-US" b="1" dirty="0"/>
              <a:t>Difficulty and Execution </a:t>
            </a:r>
            <a:r>
              <a:rPr lang="en-US" dirty="0"/>
              <a:t>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Each point represents an </a:t>
            </a:r>
            <a:r>
              <a:rPr lang="en-US" b="1" noProof="0" dirty="0"/>
              <a:t>athlete</a:t>
            </a:r>
            <a:r>
              <a:rPr lang="en-US" b="1" dirty="0"/>
              <a:t>’s performance </a:t>
            </a:r>
            <a:r>
              <a:rPr lang="en-US" dirty="0"/>
              <a:t>in a specific event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Color encodes </a:t>
            </a:r>
            <a:r>
              <a:rPr lang="en-US" b="1" noProof="0" dirty="0"/>
              <a:t>qualification status </a:t>
            </a:r>
            <a:r>
              <a:rPr lang="en-US" noProof="0" dirty="0"/>
              <a:t>(qualified, reserve and not qualified)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C940E5EC-A282-1D89-6C83-A9A96BE05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" t="4414" r="1084" b="2692"/>
          <a:stretch>
            <a:fillRect/>
          </a:stretch>
        </p:blipFill>
        <p:spPr>
          <a:xfrm>
            <a:off x="659380" y="2629299"/>
            <a:ext cx="10870192" cy="400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7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7D5F0F3-3C30-F4A1-890E-4726FA45F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9"/>
            <a:ext cx="6126480" cy="1643880"/>
          </a:xfrm>
        </p:spPr>
        <p:txBody>
          <a:bodyPr anchor="t">
            <a:normAutofit/>
          </a:bodyPr>
          <a:lstStyle/>
          <a:p>
            <a:r>
              <a:rPr lang="en-US" sz="4800" noProof="0" dirty="0"/>
              <a:t>Performance Trend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8FE2D9F-9D66-5F9D-FD30-FC0386752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2218" y="971399"/>
            <a:ext cx="4530933" cy="1643880"/>
          </a:xfrm>
        </p:spPr>
        <p:txBody>
          <a:bodyPr anchor="t"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Visualizes final </a:t>
            </a:r>
            <a:r>
              <a:rPr lang="en-US" b="1" noProof="0" dirty="0"/>
              <a:t>score evolution </a:t>
            </a:r>
            <a:r>
              <a:rPr lang="en-US" noProof="0" dirty="0"/>
              <a:t>across multiple years and competitions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Dot-interval representation: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/>
              <a:t>D</a:t>
            </a:r>
            <a:r>
              <a:rPr lang="en-US" b="1" noProof="0" dirty="0" err="1"/>
              <a:t>ot</a:t>
            </a:r>
            <a:r>
              <a:rPr lang="en-US" noProof="0" dirty="0"/>
              <a:t>: mean final score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/>
              <a:t>Interval</a:t>
            </a:r>
            <a:r>
              <a:rPr lang="en-US" dirty="0"/>
              <a:t>: minimum-maximum range</a:t>
            </a:r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testo, software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CD91323A-E094-F279-9F16-F64713102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" r="320" b="10560"/>
          <a:stretch>
            <a:fillRect/>
          </a:stretch>
        </p:blipFill>
        <p:spPr>
          <a:xfrm>
            <a:off x="517871" y="2867024"/>
            <a:ext cx="11149728" cy="385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0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27EA5-C43F-31FA-881D-BBDA34BBF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A33F1C1-DC02-7A5D-189D-3ABD3FC0C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9"/>
            <a:ext cx="6126480" cy="1643880"/>
          </a:xfrm>
        </p:spPr>
        <p:txBody>
          <a:bodyPr anchor="t">
            <a:normAutofit/>
          </a:bodyPr>
          <a:lstStyle/>
          <a:p>
            <a:r>
              <a:rPr lang="en-US" sz="4800" noProof="0"/>
              <a:t>Performance Trend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1AFD78F-AF0E-045B-A22A-B1AC79365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2218" y="971399"/>
            <a:ext cx="4530933" cy="1643880"/>
          </a:xfrm>
        </p:spPr>
        <p:txBody>
          <a:bodyPr anchor="t"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noProof="0" dirty="0"/>
              <a:t>Focused on a </a:t>
            </a:r>
            <a:r>
              <a:rPr lang="en-US" sz="1600" b="1" noProof="0" dirty="0"/>
              <a:t>single year </a:t>
            </a:r>
            <a:r>
              <a:rPr lang="en-US" sz="1600" noProof="0" dirty="0"/>
              <a:t>for event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Highlights differences in performance variability across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noProof="0" dirty="0"/>
              <a:t>Displays </a:t>
            </a:r>
            <a:r>
              <a:rPr lang="en-US" sz="1600" b="1" noProof="0" dirty="0"/>
              <a:t>event-level final score </a:t>
            </a:r>
            <a:r>
              <a:rPr lang="en-US" sz="1600" noProof="0" dirty="0"/>
              <a:t>using a dot-interval representation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magine 12" descr="Immagine che contiene testo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F9079314-6884-2285-92A1-2750D9C21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3" b="11216"/>
          <a:stretch>
            <a:fillRect/>
          </a:stretch>
        </p:blipFill>
        <p:spPr>
          <a:xfrm>
            <a:off x="533109" y="2828474"/>
            <a:ext cx="11185082" cy="382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6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BA60BA3-7FB8-2161-29A1-660F7F3A0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9"/>
            <a:ext cx="6126480" cy="1643880"/>
          </a:xfrm>
        </p:spPr>
        <p:txBody>
          <a:bodyPr anchor="t">
            <a:normAutofit/>
          </a:bodyPr>
          <a:lstStyle/>
          <a:p>
            <a:r>
              <a:rPr lang="en-US" sz="4800" noProof="0"/>
              <a:t>Apparatus x Year/Event Heatmap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F9B4991-389F-C2EF-1557-06EA8236E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2218" y="971399"/>
            <a:ext cx="4530933" cy="1643880"/>
          </a:xfrm>
        </p:spPr>
        <p:txBody>
          <a:bodyPr anchor="t"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Displays </a:t>
            </a:r>
            <a:r>
              <a:rPr lang="en-US" b="1" noProof="0" dirty="0"/>
              <a:t>average final scores </a:t>
            </a:r>
            <a:r>
              <a:rPr lang="en-US" noProof="0" dirty="0"/>
              <a:t>using </a:t>
            </a:r>
            <a:r>
              <a:rPr lang="en-US" noProof="0" dirty="0" err="1"/>
              <a:t>colo</a:t>
            </a:r>
            <a:r>
              <a:rPr lang="en-US" dirty="0"/>
              <a:t>r intensity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Rows represent </a:t>
            </a:r>
            <a:r>
              <a:rPr lang="en-US" b="1" noProof="0" dirty="0"/>
              <a:t>apparatuses</a:t>
            </a:r>
            <a:r>
              <a:rPr lang="en-US" noProof="0" dirty="0"/>
              <a:t>, columns represent </a:t>
            </a:r>
            <a:r>
              <a:rPr lang="en-US" b="1" noProof="0" dirty="0"/>
              <a:t>temporal categories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Quick comparison of performance </a:t>
            </a:r>
            <a:r>
              <a:rPr lang="en-US" dirty="0"/>
              <a:t>patterns across apparatuses</a:t>
            </a:r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 descr="Immagine che contiene testo, linea, Rettangolo, numero&#10;&#10;Il contenuto generato dall'IA potrebbe non essere corretto.">
            <a:extLst>
              <a:ext uri="{FF2B5EF4-FFF2-40B4-BE49-F238E27FC236}">
                <a16:creationId xmlns:a16="http://schemas.microsoft.com/office/drawing/2014/main" id="{828407BE-6A49-D3C9-4C6E-0512BB551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13" r="1" b="681"/>
          <a:stretch>
            <a:fillRect/>
          </a:stretch>
        </p:blipFill>
        <p:spPr>
          <a:xfrm>
            <a:off x="517871" y="2867025"/>
            <a:ext cx="11185082" cy="347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6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8BDBD27-FF4A-DF68-A7D7-F3EA61409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9"/>
            <a:ext cx="6126480" cy="1643880"/>
          </a:xfrm>
        </p:spPr>
        <p:txBody>
          <a:bodyPr anchor="t">
            <a:normAutofit/>
          </a:bodyPr>
          <a:lstStyle/>
          <a:p>
            <a:r>
              <a:rPr lang="en-US" sz="4800" noProof="0"/>
              <a:t>Principal Component Analysis (PCA)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C3007F6-58DA-1699-6A3C-3E6F0B755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2218" y="971399"/>
            <a:ext cx="4530933" cy="1643880"/>
          </a:xfrm>
        </p:spPr>
        <p:txBody>
          <a:bodyPr anchor="t"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noProof="0" dirty="0"/>
              <a:t>Project </a:t>
            </a:r>
            <a:r>
              <a:rPr lang="en-US" sz="1600" b="1" noProof="0" dirty="0"/>
              <a:t>multidimensional performance metrics </a:t>
            </a:r>
            <a:r>
              <a:rPr lang="en-US" sz="1600" noProof="0" dirty="0"/>
              <a:t>into a 2D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Spatial proximity </a:t>
            </a:r>
            <a:r>
              <a:rPr lang="en-US" sz="1600" dirty="0"/>
              <a:t>indicates </a:t>
            </a:r>
            <a:r>
              <a:rPr lang="en-US" sz="1600" b="1" dirty="0"/>
              <a:t>similar performances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Input features include </a:t>
            </a:r>
            <a:r>
              <a:rPr lang="en-US" sz="1600" b="1" dirty="0"/>
              <a:t>Difficulty, Execution, penalties, and Final Score</a:t>
            </a:r>
            <a:endParaRPr lang="en-US" sz="1600" b="1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magine 10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8981FEEC-944B-1DD2-94D4-CB3A62ADE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2719" r="3" b="1064"/>
          <a:stretch>
            <a:fillRect/>
          </a:stretch>
        </p:blipFill>
        <p:spPr>
          <a:xfrm>
            <a:off x="501935" y="2615279"/>
            <a:ext cx="11185082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5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E1EA18-716B-8850-72ED-DF5671432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Application cases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8E3E21E-6955-F922-B1EA-5B1E38B12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450592"/>
            <a:ext cx="7921752" cy="3429000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/>
              <a:t>Comparison</a:t>
            </a:r>
            <a:r>
              <a:rPr lang="en-US" noProof="0" dirty="0"/>
              <a:t> of athlete performances across competitions and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Analysis of </a:t>
            </a:r>
            <a:r>
              <a:rPr lang="en-US" b="1" noProof="0" dirty="0"/>
              <a:t>apparatus-specific performance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Identification of </a:t>
            </a:r>
            <a:r>
              <a:rPr lang="en-US" b="1" noProof="0" dirty="0"/>
              <a:t>consistency and variability </a:t>
            </a:r>
            <a:r>
              <a:rPr lang="en-US" noProof="0" dirty="0"/>
              <a:t>in Final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Exploration of </a:t>
            </a:r>
            <a:r>
              <a:rPr lang="en-US" b="1" noProof="0" dirty="0"/>
              <a:t>athlete similarity </a:t>
            </a:r>
            <a:r>
              <a:rPr lang="en-US" noProof="0" dirty="0"/>
              <a:t>through PCA-based projections</a:t>
            </a:r>
          </a:p>
        </p:txBody>
      </p:sp>
    </p:spTree>
    <p:extLst>
      <p:ext uri="{BB962C8B-B14F-4D97-AF65-F5344CB8AC3E}">
        <p14:creationId xmlns:p14="http://schemas.microsoft.com/office/powerpoint/2010/main" val="28423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A7956F-EBA7-CA83-B5AE-79FBC905F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Possible improvements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A80DAE4-EC9B-127D-4466-4EF8917C4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450592"/>
            <a:ext cx="8013192" cy="3429000"/>
          </a:xfrm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noProof="0" dirty="0"/>
              <a:t>Extension to additional competitions </a:t>
            </a:r>
            <a:r>
              <a:rPr lang="en-US" noProof="0" dirty="0"/>
              <a:t>and Olympic cycles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Integration of </a:t>
            </a:r>
            <a:r>
              <a:rPr lang="en-US" b="1" noProof="0" dirty="0"/>
              <a:t>routine-level or biomechanical performance </a:t>
            </a:r>
            <a:r>
              <a:rPr lang="en-US" noProof="0" dirty="0"/>
              <a:t>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noProof="0" dirty="0"/>
              <a:t>User-centered evaluation</a:t>
            </a:r>
            <a:r>
              <a:rPr lang="en-US" noProof="0" dirty="0"/>
              <a:t> with coaches and domain experts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Inclusion of </a:t>
            </a:r>
            <a:r>
              <a:rPr lang="en-US" b="1" noProof="0" dirty="0"/>
              <a:t>advanced analytical or predictive techniques</a:t>
            </a:r>
          </a:p>
        </p:txBody>
      </p:sp>
    </p:spTree>
    <p:extLst>
      <p:ext uri="{BB962C8B-B14F-4D97-AF65-F5344CB8AC3E}">
        <p14:creationId xmlns:p14="http://schemas.microsoft.com/office/powerpoint/2010/main" val="3369256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AE0A9-C6F4-834B-3A5D-2A014079E2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r>
              <a:rPr lang="en-US" noProof="0" dirty="0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13786636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643</Words>
  <Application>Microsoft Office PowerPoint</Application>
  <PresentationFormat>Widescreen</PresentationFormat>
  <Paragraphs>81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Bierstadt</vt:lpstr>
      <vt:lpstr>Neue Haas Grotesk Text Pro</vt:lpstr>
      <vt:lpstr>GestaltVTI</vt:lpstr>
      <vt:lpstr>Visual analytics for gymnastics performance</vt:lpstr>
      <vt:lpstr>Topic</vt:lpstr>
      <vt:lpstr>Data Retrieval</vt:lpstr>
      <vt:lpstr>Data sources</vt:lpstr>
      <vt:lpstr>Data sources</vt:lpstr>
      <vt:lpstr>Intended Users</vt:lpstr>
      <vt:lpstr>Data preprocessing</vt:lpstr>
      <vt:lpstr>Data visualization</vt:lpstr>
      <vt:lpstr>D vs E scatter plot</vt:lpstr>
      <vt:lpstr>Performance Trend</vt:lpstr>
      <vt:lpstr>Performance Trend</vt:lpstr>
      <vt:lpstr>Apparatus x Year/Event Heatmap </vt:lpstr>
      <vt:lpstr>Principal Component Analysis (PCA)</vt:lpstr>
      <vt:lpstr>Application cases</vt:lpstr>
      <vt:lpstr>Possible improvements</vt:lpstr>
      <vt:lpstr>End.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Sisti</dc:creator>
  <cp:lastModifiedBy>Giorgio Sisti</cp:lastModifiedBy>
  <cp:revision>1</cp:revision>
  <dcterms:created xsi:type="dcterms:W3CDTF">2026-01-10T18:53:47Z</dcterms:created>
  <dcterms:modified xsi:type="dcterms:W3CDTF">2026-01-10T23:51:33Z</dcterms:modified>
</cp:coreProperties>
</file>